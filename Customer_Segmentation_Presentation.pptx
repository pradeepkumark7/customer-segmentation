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Customer Segmentation &amp; Purchase Behavior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29B5A"/>
                </a:solidFill>
              </a:defRPr>
            </a:pPr>
            <a:r>
              <a:t>Client Project | Customer Data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BEDCE1"/>
                </a:solidFill>
              </a:defRPr>
            </a:pPr>
            <a:r>
              <a:t>Prepared using MySQL/phpMyAdmin and Microsoft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9DCE1"/>
                </a:solidFill>
              </a:defRPr>
            </a:pPr>
            <a:r>
              <a:t>Understand customer segments, revenue drivers and purchase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F5F8FA"/>
                </a:solidFill>
              </a:defRPr>
            </a:pPr>
            <a:r>
              <a:t>Analyze total revenue, customer count, average purchase value and customer ratings.</a:t>
            </a:r>
          </a:p>
          <a:p>
            <a:pPr>
              <a:spcAft>
                <a:spcPts val="1600"/>
              </a:spcAft>
              <a:defRPr sz="1900">
                <a:solidFill>
                  <a:srgbClr val="F5F8FA"/>
                </a:solidFill>
              </a:defRPr>
            </a:pPr>
            <a:r>
              <a:t>Compare revenue across product categories, gender, seasons, age groups, payment methods and locations.</a:t>
            </a:r>
          </a:p>
          <a:p>
            <a:pPr>
              <a:spcAft>
                <a:spcPts val="1600"/>
              </a:spcAft>
              <a:defRPr sz="1900">
                <a:solidFill>
                  <a:srgbClr val="F5F8FA"/>
                </a:solidFill>
              </a:defRPr>
            </a:pPr>
            <a:r>
              <a:t>Classify customers into Low Value, Medium Value and High Value segments.</a:t>
            </a:r>
          </a:p>
          <a:p>
            <a:pPr>
              <a:spcAft>
                <a:spcPts val="1600"/>
              </a:spcAft>
              <a:defRPr sz="1900">
                <a:solidFill>
                  <a:srgbClr val="F5F8FA"/>
                </a:solidFill>
              </a:defRPr>
            </a:pPr>
            <a:r>
              <a:t>Convert dashboard findings into practical marketing, inventory and retention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9DCE1"/>
                </a:solidFill>
              </a:defRPr>
            </a:pPr>
            <a:r>
              <a:t>From raw shopping data to business insights.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F5F8FA"/>
                </a:solidFill>
              </a:defRPr>
            </a:pPr>
            <a:r>
              <a:t>Validated the shopping dataset in MySQL/phpMyAdmin and reviewed fields, records and data structure.</a:t>
            </a:r>
          </a:p>
          <a:p>
            <a:pPr>
              <a:spcAft>
                <a:spcPts val="1600"/>
              </a:spcAft>
              <a:defRPr sz="1900">
                <a:solidFill>
                  <a:srgbClr val="F5F8FA"/>
                </a:solidFill>
              </a:defRPr>
            </a:pPr>
            <a:r>
              <a:t>Exported the validated dataset as CSV and loaded it into Power BI.</a:t>
            </a:r>
          </a:p>
          <a:p>
            <a:pPr>
              <a:spcAft>
                <a:spcPts val="1600"/>
              </a:spcAft>
              <a:defRPr sz="1900">
                <a:solidFill>
                  <a:srgbClr val="F5F8FA"/>
                </a:solidFill>
              </a:defRPr>
            </a:pPr>
            <a:r>
              <a:t>Created analytical fields including Age Group and Customer Segment.</a:t>
            </a:r>
          </a:p>
          <a:p>
            <a:pPr>
              <a:spcAft>
                <a:spcPts val="1600"/>
              </a:spcAft>
              <a:defRPr sz="1900">
                <a:solidFill>
                  <a:srgbClr val="F5F8FA"/>
                </a:solidFill>
              </a:defRPr>
            </a:pPr>
            <a:r>
              <a:t>Built a three-page interactive dashboard with filters for Gender, Product Category and Season.</a:t>
            </a:r>
          </a:p>
          <a:p>
            <a:pPr>
              <a:spcAft>
                <a:spcPts val="1600"/>
              </a:spcAft>
              <a:defRPr sz="1900">
                <a:solidFill>
                  <a:srgbClr val="F5F8FA"/>
                </a:solidFill>
              </a:defRPr>
            </a:pPr>
            <a:r>
              <a:t>Interpreted results using both purchase volume and revenue contribution.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Dashboard Page 1 — Executive Business Overview</a:t>
            </a:r>
          </a:p>
        </p:txBody>
      </p:sp>
      <p:pic>
        <p:nvPicPr>
          <p:cNvPr id="3" name="Picture 2" descr="Dashboard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111" y="1234440"/>
            <a:ext cx="9627471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Dashboard Page 2 — Customer Behavior Analysis</a:t>
            </a:r>
          </a:p>
        </p:txBody>
      </p:sp>
      <p:pic>
        <p:nvPicPr>
          <p:cNvPr id="3" name="Picture 2" descr="Dashboard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843" y="1234440"/>
            <a:ext cx="9594008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Dashboard Page 3 — Customer Segmentation &amp; Recommendations</a:t>
            </a:r>
          </a:p>
        </p:txBody>
      </p:sp>
      <p:pic>
        <p:nvPicPr>
          <p:cNvPr id="3" name="Picture 2" descr="Dashboard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42" y="1234440"/>
            <a:ext cx="955820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9DCE1"/>
                </a:solidFill>
              </a:defRPr>
            </a:pPr>
            <a:r>
              <a:t>Insights derived from the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F5F8FA"/>
                </a:solidFill>
              </a:defRPr>
            </a:pPr>
            <a:r>
              <a:t>Total revenue is approximately USD 233K across approximately 3.9K customers.</a:t>
            </a:r>
          </a:p>
          <a:p>
            <a:pPr>
              <a:spcAft>
                <a:spcPts val="1600"/>
              </a:spcAft>
              <a:defRPr sz="1900">
                <a:solidFill>
                  <a:srgbClr val="F5F8FA"/>
                </a:solidFill>
              </a:defRPr>
            </a:pPr>
            <a:r>
              <a:t>Clothing is the leading revenue-generating product category; Accessories and Footwear also contribute meaningfully.</a:t>
            </a:r>
          </a:p>
          <a:p>
            <a:pPr>
              <a:spcAft>
                <a:spcPts val="1600"/>
              </a:spcAft>
              <a:defRPr sz="1900">
                <a:solidFill>
                  <a:srgbClr val="F5F8FA"/>
                </a:solidFill>
              </a:defRPr>
            </a:pPr>
            <a:r>
              <a:t>Customers aged 55+ contribute the highest revenue, indicating strong purchasing power in this segment.</a:t>
            </a:r>
          </a:p>
          <a:p>
            <a:pPr>
              <a:spcAft>
                <a:spcPts val="1600"/>
              </a:spcAft>
              <a:defRPr sz="1900">
                <a:solidFill>
                  <a:srgbClr val="F5F8FA"/>
                </a:solidFill>
              </a:defRPr>
            </a:pPr>
            <a:r>
              <a:t>High Value and Medium Value customer groups contribute the largest revenue share.</a:t>
            </a:r>
          </a:p>
          <a:p>
            <a:pPr>
              <a:spcAft>
                <a:spcPts val="1600"/>
              </a:spcAft>
              <a:defRPr sz="1900">
                <a:solidFill>
                  <a:srgbClr val="F5F8FA"/>
                </a:solidFill>
              </a:defRPr>
            </a:pPr>
            <a:r>
              <a:t>Revenue is relatively consistent across seasons, while payment preferences vary across age groups.</a:t>
            </a:r>
          </a:p>
          <a:p>
            <a:pPr>
              <a:spcAft>
                <a:spcPts val="1600"/>
              </a:spcAft>
              <a:defRPr sz="1900">
                <a:solidFill>
                  <a:srgbClr val="F5F8FA"/>
                </a:solidFill>
              </a:defRPr>
            </a:pPr>
            <a:r>
              <a:t>Location-level analysis identifies priority markets for sales focus and inventory planning.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9DCE1"/>
                </a:solidFill>
              </a:defRPr>
            </a:pPr>
            <a:r>
              <a:t>Actions supported by the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F5F8FA"/>
                </a:solidFill>
              </a:defRPr>
            </a:pPr>
            <a:r>
              <a:t>Retain High Value customers through loyalty rewards, early-access offers and personalized communication.</a:t>
            </a:r>
          </a:p>
          <a:p>
            <a:pPr>
              <a:spcAft>
                <a:spcPts val="1600"/>
              </a:spcAft>
              <a:defRPr sz="1900">
                <a:solidFill>
                  <a:srgbClr val="F5F8FA"/>
                </a:solidFill>
              </a:defRPr>
            </a:pPr>
            <a:r>
              <a:t>Move Medium Value customers upward through bundles, cross-selling and targeted recommendations.</a:t>
            </a:r>
          </a:p>
          <a:p>
            <a:pPr>
              <a:spcAft>
                <a:spcPts val="1600"/>
              </a:spcAft>
              <a:defRPr sz="1900">
                <a:solidFill>
                  <a:srgbClr val="F5F8FA"/>
                </a:solidFill>
              </a:defRPr>
            </a:pPr>
            <a:r>
              <a:t>Use focused coupons for Low Value customers instead of broad discounting.</a:t>
            </a:r>
          </a:p>
          <a:p>
            <a:pPr>
              <a:spcAft>
                <a:spcPts val="1600"/>
              </a:spcAft>
              <a:defRPr sz="1900">
                <a:solidFill>
                  <a:srgbClr val="F5F8FA"/>
                </a:solidFill>
              </a:defRPr>
            </a:pPr>
            <a:r>
              <a:t>Prioritize Clothing and other high-performing categories for inventory availability and promotions.</a:t>
            </a:r>
          </a:p>
          <a:p>
            <a:pPr>
              <a:spcAft>
                <a:spcPts val="1600"/>
              </a:spcAft>
              <a:defRPr sz="1900">
                <a:solidFill>
                  <a:srgbClr val="F5F8FA"/>
                </a:solidFill>
              </a:defRPr>
            </a:pPr>
            <a:r>
              <a:t>Plan age-specific campaigns, especially for the 55+ segment, and tailor payment offers by customer preference.</a:t>
            </a:r>
          </a:p>
          <a:p>
            <a:pPr>
              <a:spcAft>
                <a:spcPts val="1600"/>
              </a:spcAft>
              <a:defRPr sz="1900">
                <a:solidFill>
                  <a:srgbClr val="F5F8FA"/>
                </a:solidFill>
              </a:defRPr>
            </a:pPr>
            <a:r>
              <a:t>Use high-revenue locations for regional marketing and expansion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